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50" autoAdjust="0"/>
  </p:normalViewPr>
  <p:slideViewPr>
    <p:cSldViewPr snapToGrid="0" snapToObjects="1">
      <p:cViewPr varScale="1">
        <p:scale>
          <a:sx n="99" d="100"/>
          <a:sy n="99" d="100"/>
        </p:scale>
        <p:origin x="10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F8-4FE9-94D7-6B56012674AB}"/>
              </c:ext>
            </c:extLst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F8-4FE9-94D7-6B56012674AB}"/>
              </c:ext>
            </c:extLst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F8-4FE9-94D7-6B56012674AB}"/>
              </c:ext>
            </c:extLst>
          </c:dPt>
          <c:dPt>
            <c:idx val="3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F8-4FE9-94D7-6B56012674AB}"/>
              </c:ext>
            </c:extLst>
          </c:dPt>
          <c:dPt>
            <c:idx val="4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F8-4FE9-94D7-6B56012674AB}"/>
              </c:ext>
            </c:extLst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FF8-4FE9-94D7-6B56012674AB}"/>
              </c:ext>
            </c:extLst>
          </c:dPt>
          <c:dPt>
            <c:idx val="6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FF8-4FE9-94D7-6B56012674A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SongNet GRU / CRNN</c:v>
                </c:pt>
                <c:pt idx="1">
                  <c:v>SongNet Time-Distributed</c:v>
                </c:pt>
                <c:pt idx="2">
                  <c:v>Logistic Regression</c:v>
                </c:pt>
                <c:pt idx="3">
                  <c:v>Random Forest</c:v>
                </c:pt>
                <c:pt idx="4">
                  <c:v>MLP</c:v>
                </c:pt>
                <c:pt idx="5">
                  <c:v>Linear SVM</c:v>
                </c:pt>
                <c:pt idx="6">
                  <c:v>kNN (k=5)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59.75</c:v>
                </c:pt>
                <c:pt idx="1">
                  <c:v>56.25</c:v>
                </c:pt>
                <c:pt idx="2">
                  <c:v>56.12</c:v>
                </c:pt>
                <c:pt idx="3">
                  <c:v>55.38</c:v>
                </c:pt>
                <c:pt idx="4">
                  <c:v>54.5</c:v>
                </c:pt>
                <c:pt idx="5">
                  <c:v>50.88</c:v>
                </c:pt>
                <c:pt idx="6">
                  <c:v>46.38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FF8-4FE9-94D7-6B56012674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7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focuses on classifying music into eight genres while also examining how the model's genre predictions evolve over time within an audio clip.</a:t>
            </a:r>
          </a:p>
          <a:p>
            <a:r>
              <a:rPr lang="en-US" dirty="0"/>
              <a:t>The project has two main goals: predict the overall genre of a song and visualize the genre probabilities at different moments of the 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is to classify a 30-second music clip into one of eight genres.</a:t>
            </a:r>
          </a:p>
          <a:p>
            <a:r>
              <a:rPr lang="en-US" dirty="0"/>
              <a:t>A conventional approach often represents an entire track using a single feature vector. This can lose information about how the music changes over time.</a:t>
            </a:r>
          </a:p>
          <a:p>
            <a:r>
              <a:rPr lang="en-US" dirty="0"/>
              <a:t>Our approach uses a log-Mel spectrogram as input to a convolutional recurrent neural network. It produces genre probabilities at multiple time steps, which we visualize using curves and a heatmap.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"We used FMA-Small, which contains 8,000 30-second music clips distributed across eight genres.</a:t>
            </a:r>
          </a:p>
          <a:p>
            <a:r>
              <a:rPr lang="en-US" dirty="0"/>
              <a:t>During preprocessing, three corrupt MP3 files were skipped, leaving 7,997 usable tracks.</a:t>
            </a:r>
          </a:p>
          <a:p>
            <a:r>
              <a:rPr lang="en-US" dirty="0"/>
              <a:t>We used a stratified 70-20-10 split. This gave us 5,597 tracks for training, 1,600 for validation and 800 for testing. The test set contains 100 tracks from each genre.</a:t>
            </a:r>
          </a:p>
          <a:p>
            <a:r>
              <a:rPr lang="en-US" dirty="0"/>
              <a:t>We converted the audio into log-Mel spectrograms with 128 Mel frequency bins. Each track has an input representation of 128 by 1292."</a:t>
            </a:r>
          </a:p>
          <a:p>
            <a:r>
              <a:rPr lang="en-US" b="1" dirty="0"/>
              <a:t>What does 128 × 1292 mean?</a:t>
            </a:r>
          </a:p>
          <a:p>
            <a:r>
              <a:rPr lang="en-US" dirty="0"/>
              <a:t>This is worth memorizing.</a:t>
            </a:r>
          </a:p>
          <a:p>
            <a:r>
              <a:rPr lang="en-US" dirty="0"/>
              <a:t>128: Mel frequency bins.</a:t>
            </a:r>
          </a:p>
          <a:p>
            <a:r>
              <a:rPr lang="en-US" dirty="0"/>
              <a:t>1292: Time frames.</a:t>
            </a:r>
          </a:p>
          <a:p>
            <a:r>
              <a:rPr lang="en-US" dirty="0"/>
              <a:t>A spectrogram shows how the energy across frequency bands changes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"Our architecture has one shared CNN backbone and two alternative classification heads.</a:t>
            </a:r>
          </a:p>
          <a:p>
            <a:endParaRPr lang="en-US" dirty="0"/>
          </a:p>
          <a:p>
            <a:r>
              <a:rPr lang="en-US" dirty="0"/>
              <a:t>First, the input spectrogram passes through three Conv1D blocks. These extract useful local acoustic patterns from the audio.</a:t>
            </a:r>
          </a:p>
          <a:p>
            <a:r>
              <a:rPr lang="en-US" dirty="0"/>
              <a:t>The feature representation is then passed to one of two heads.</a:t>
            </a:r>
          </a:p>
          <a:p>
            <a:r>
              <a:rPr lang="en-US" dirty="0"/>
              <a:t>The first is the Time-Distributed head. It applies a 1×1 convolution at each time step without a recurrent layer.</a:t>
            </a:r>
          </a:p>
          <a:p>
            <a:r>
              <a:rPr lang="en-US" dirty="0"/>
              <a:t>The second is the GRU head. It uses a unidirectional GRU with hidden size 128 to model the temporal relationships between the extracted features.</a:t>
            </a:r>
          </a:p>
          <a:p>
            <a:r>
              <a:rPr lang="en-US" dirty="0"/>
              <a:t>Both heads produce eight genre probabilities at each of 161 output time steps. We average the probabilities across time to obtain the final song-level prediction.“</a:t>
            </a:r>
          </a:p>
          <a:p>
            <a:endParaRPr lang="en-US" dirty="0"/>
          </a:p>
          <a:p>
            <a:r>
              <a:rPr lang="en-US" b="1" dirty="0"/>
              <a:t>The critical concept: What is a CRNN?</a:t>
            </a:r>
          </a:p>
          <a:p>
            <a:r>
              <a:rPr lang="en-US" dirty="0"/>
              <a:t>CRNN = Convolutional Recurrent Neural Network.</a:t>
            </a:r>
          </a:p>
          <a:p>
            <a:r>
              <a:rPr lang="en-US" dirty="0"/>
              <a:t>Think of the two components like this:</a:t>
            </a:r>
          </a:p>
          <a:p>
            <a:r>
              <a:rPr lang="en-US" dirty="0"/>
              <a:t>CNN: Learns local acoustic patterns from the spectrogram.</a:t>
            </a:r>
          </a:p>
          <a:p>
            <a:r>
              <a:rPr lang="en-US" dirty="0"/>
              <a:t>GRU: Uses the sequence of features to model how those patterns evolve over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trained the Time-Distributed model for 20 epochs, using a batch size of 32, dropout of 0.3 and CUDA acceleration.</a:t>
            </a:r>
          </a:p>
          <a:p>
            <a:r>
              <a:rPr lang="en-US" dirty="0"/>
              <a:t>We used Adam as the optimizer, with an initial learning rate of 0.001 and weight decay of 0.0001. We also used </a:t>
            </a:r>
            <a:r>
              <a:rPr lang="en-US" dirty="0" err="1"/>
              <a:t>ReduceLROnPlateau</a:t>
            </a:r>
            <a:r>
              <a:rPr lang="en-US" dirty="0"/>
              <a:t> to reduce the learning rate when the monitored validation metric stopped improving.</a:t>
            </a:r>
          </a:p>
          <a:p>
            <a:r>
              <a:rPr lang="en-US" dirty="0"/>
              <a:t>During training, we randomly cropped 640 frames, corresponding to approximately 14.9 seconds, while testing used the full 1292-frame spectrogram.</a:t>
            </a:r>
          </a:p>
          <a:p>
            <a:r>
              <a:rPr lang="en-US" dirty="0"/>
              <a:t>The Time-Distributed run reached a best validation accuracy of 55.75%. We also trained the GRU variant with the same training script.</a:t>
            </a:r>
          </a:p>
          <a:p>
            <a:r>
              <a:rPr lang="en-US" dirty="0"/>
              <a:t>“The random crop acts as data augmentation. Different portions of the same track are seen during different training iterations, which can improve robustness.”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final results are evaluated on the held-out test set of 800 tracks.</a:t>
            </a:r>
          </a:p>
          <a:p>
            <a:r>
              <a:rPr lang="en-US" dirty="0"/>
              <a:t>The GRU/CRNN achieved 59.75% test accuracy and a macro F1 score of 0.5897, making it the best-performing model in this experiment.</a:t>
            </a:r>
          </a:p>
          <a:p>
            <a:r>
              <a:rPr lang="en-US" dirty="0"/>
              <a:t>The strongest classical baseline was Logistic Regression at 56.12%. Therefore, the GRU/CRNN has a 3.63 percentage-point higher test accuracy.</a:t>
            </a:r>
          </a:p>
          <a:p>
            <a:r>
              <a:rPr lang="en-US" dirty="0"/>
              <a:t>The Time-Distributed variant achieved 56.25%. The difference between the two </a:t>
            </a:r>
            <a:r>
              <a:rPr lang="en-US" dirty="0" err="1"/>
              <a:t>SongNet</a:t>
            </a:r>
            <a:r>
              <a:rPr lang="en-US" dirty="0"/>
              <a:t> variants suggests that explicitly modelling temporal dependencies with the GRU may be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Hip-Hop is the strongest class by F1 and Pop the weakest. The confusion matrix at results/gru/confusion_matrix.png shows which genres Pop is mistaken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actual interactive application is built using </a:t>
            </a:r>
            <a:r>
              <a:rPr lang="en-US" dirty="0" err="1"/>
              <a:t>Gradio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Time-Distributed ablation achieved 56.25%, which gives us evidence that adding temporal modeling with the GRU was useful.”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SongNet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04134"/>
            <a:ext cx="8046720" cy="2500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Time-Resolved Music Genre Classification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PES1UG24AM407 Srinidhi 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PES1UG24AM918 Vasu Tripathi</a:t>
            </a:r>
          </a:p>
          <a:p>
            <a:pPr marL="0" indent="0">
              <a:buNone/>
            </a:pPr>
            <a:endParaRPr lang="en-US" sz="2800" dirty="0">
              <a:solidFill>
                <a:srgbClr val="BFD7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Mini-Project  |  github.com/nidhi832/SONGNET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19E44-13B4-5AFA-0C18-3CEFFA351A98}"/>
              </a:ext>
            </a:extLst>
          </p:cNvPr>
          <p:cNvSpPr txBox="1"/>
          <p:nvPr/>
        </p:nvSpPr>
        <p:spPr>
          <a:xfrm>
            <a:off x="633600" y="3254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classify 30-second clips into 8 genres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pipelines summarise a track as one feature vector, so temporal evolution is lost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SongNet: Conv1D + recurrent (CRNN) model on log-Mel spectrograms (Zhang, Zhang, Chen, Stanford CS229)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a genre probability at every time step, shown as curves and a heatmap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FMA-Small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24328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 FMA-Small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005840"/>
            <a:ext cx="2624328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05156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7,997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16916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(3 corrupt MP3s skipped)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005840"/>
            <a:ext cx="2624328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71616" y="105156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x 1292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16916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input per track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695796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23160"/>
            <a:ext cx="569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5,597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52996" y="2423160"/>
            <a:ext cx="1628243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52996" y="2423160"/>
            <a:ext cx="1628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1,600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81239" y="2423160"/>
            <a:ext cx="814121" cy="457200"/>
          </a:xfrm>
          <a:prstGeom prst="rect">
            <a:avLst/>
          </a:prstGeom>
          <a:solidFill>
            <a:srgbClr val="7FB3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81239" y="2423160"/>
            <a:ext cx="8141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632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genres: Electronic, Experimental, Folk, Hip-Hop, Instrumental, International, Pop, Rock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22.05 kHz audio, FFT 2048, hop 512, 128 Mel bins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70/20/10 split;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statistics from the training split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One Backbone, Two Heads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DE6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x 1292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3736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BFD7E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 Conv1D block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BN, ReLU, MaxPool, Dropout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DE6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x 161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0058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02870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Time-Distributed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1x1 Conv1d per step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GRU / CRNN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(hidden 128) + Linear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4754880" y="1353311"/>
            <a:ext cx="365760" cy="704089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057400"/>
            <a:ext cx="36576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16002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DE6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softmax,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song genre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417320"/>
            <a:ext cx="36576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223760" y="2080260"/>
            <a:ext cx="365760" cy="61722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3375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along time only: the 128 Mel bins are channels; channels 128→128→256→256, kernel 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 no recurrence. B adds a unidirectional GRU: CRNN = Convolutional Recurrent Neural Network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emit 8 probabilities at each of 161 steps; the mean over steps is the song prediction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Recipe (measured run)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src.train --data_dir data/processed --out_dir runs/songnet_full --epochs 20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Time-Distributed head, 20 epochs, batch 32, dropout 0.3, CUDA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weight decay 1e-4; ReduceLROnPlateau (x0.5, patience 3)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NLL on log of mean-pooled step probabilities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 640-frame crop (about 14.9 s); test on full 1292 frames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saved when validation loss or accuracy improves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 55.75%, lowest val loss 1.2900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variant trained with the same script (--head gru)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Test Accuracy (800 tracks)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560320" cy="18745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59.75%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/ CRNN test accuracy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0.5897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GRU/CRNN improves test accuracy by 3.63 percentage points over Logistic Regression.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run, one split. Random guess = 12.5%. Baselines fit on train+val.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Per-Genre Performance (GRU / CRNN)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362102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Hip-Hop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05156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Strongest: Hip-Hop (F1 0.78)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Pop (F1 0.34, recall 0.28)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and Instrumental also below 0.5 F1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Folk: high recall (0.79), lower precision (0.57)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test tracks per genre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src/preprocess.py: spectrograms, split, norm stats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src/baselines.py: 5 classical models on FMA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src/model.py: SongNet (TD and GRU heads)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src/train.py, src/evaluate.py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tests/smoke_test.py: synthetic end-to-end check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43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python app.py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Uploading a clip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Showing per-timestep genre curves, temporal heatmap and song-level probabilities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Comparing TD and GRU heads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GRU/CRNN: 59.75% accuracy, macro F1 0.5897 on 800 test tracks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baseline, Logistic Regression: 56.12%, macro F1 0.5605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Time-Distributed ablation: 56.25%, macro F1 0.5561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and Experimental remain hardest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1375</Words>
  <Application>Microsoft Office PowerPoint</Application>
  <PresentationFormat>On-screen Show (16:9)</PresentationFormat>
  <Paragraphs>172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Vasu Tripathi</cp:lastModifiedBy>
  <cp:revision>20</cp:revision>
  <dcterms:created xsi:type="dcterms:W3CDTF">2026-10-11T09:51:08Z</dcterms:created>
  <dcterms:modified xsi:type="dcterms:W3CDTF">2026-10-12T05:52:33Z</dcterms:modified>
</cp:coreProperties>
</file>