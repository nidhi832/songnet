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404" autoAdjust="0"/>
  </p:normalViewPr>
  <p:slideViewPr>
    <p:cSldViewPr snapToGrid="0" snapToObjects="1">
      <p:cViewPr varScale="1">
        <p:scale>
          <a:sx n="133" d="100"/>
          <a:sy n="133" d="100"/>
        </p:scale>
        <p:origin x="102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 (%)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FF8-4FE9-94D7-6B56012674AB}"/>
              </c:ext>
            </c:extLst>
          </c:dPt>
          <c:dPt>
            <c:idx val="1"/>
            <c:invertIfNegative val="0"/>
            <c:bubble3D val="0"/>
            <c:spPr>
              <a:solidFill>
                <a:srgbClr val="2E86C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FF8-4FE9-94D7-6B56012674AB}"/>
              </c:ext>
            </c:extLst>
          </c:dPt>
          <c:dPt>
            <c:idx val="2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FF8-4FE9-94D7-6B56012674AB}"/>
              </c:ext>
            </c:extLst>
          </c:dPt>
          <c:dPt>
            <c:idx val="3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FF8-4FE9-94D7-6B56012674AB}"/>
              </c:ext>
            </c:extLst>
          </c:dPt>
          <c:dPt>
            <c:idx val="4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FF8-4FE9-94D7-6B56012674AB}"/>
              </c:ext>
            </c:extLst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FF8-4FE9-94D7-6B56012674AB}"/>
              </c:ext>
            </c:extLst>
          </c:dPt>
          <c:dPt>
            <c:idx val="6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3FF8-4FE9-94D7-6B56012674AB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2222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SongNet GRU / CRNN</c:v>
                </c:pt>
                <c:pt idx="1">
                  <c:v>SongNet Time-Distributed</c:v>
                </c:pt>
                <c:pt idx="2">
                  <c:v>Logistic Regression</c:v>
                </c:pt>
                <c:pt idx="3">
                  <c:v>Random Forest</c:v>
                </c:pt>
                <c:pt idx="4">
                  <c:v>MLP</c:v>
                </c:pt>
                <c:pt idx="5">
                  <c:v>Linear SVM</c:v>
                </c:pt>
                <c:pt idx="6">
                  <c:v>kNN (k=5)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59.75</c:v>
                </c:pt>
                <c:pt idx="1">
                  <c:v>56.25</c:v>
                </c:pt>
                <c:pt idx="2">
                  <c:v>56.12</c:v>
                </c:pt>
                <c:pt idx="3">
                  <c:v>55.38</c:v>
                </c:pt>
                <c:pt idx="4">
                  <c:v>54.5</c:v>
                </c:pt>
                <c:pt idx="5">
                  <c:v>50.88</c:v>
                </c:pt>
                <c:pt idx="6">
                  <c:v>46.38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3FF8-4FE9-94D7-6B56012674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4574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SongNet re-implementation (Zhang, Zhang, Chen, Stanford CS229) with two head variants, compared with five classical baselines on FMA-Small.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in the viva: we implemented time-resolved prediction and visualisation. We did not benchmark live streaming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dataset has 8,000 tracks (1,000 per genre). Three MP3s were corrupt and skipped in preprocessing, so 7,997 were used: 5,597 train, 1,600 validation, 800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the left:</a:t>
            </a:r>
          </a:p>
          <a:p>
            <a:r>
              <a:rPr lang="en-US" dirty="0"/>
              <a:t>“The input to the model is our 128 by 1292 log-Mel spectrogram.”</a:t>
            </a:r>
          </a:p>
          <a:p>
            <a:r>
              <a:rPr lang="en-US" dirty="0"/>
              <a:t>Then:</a:t>
            </a:r>
          </a:p>
          <a:p>
            <a:r>
              <a:rPr lang="en-US" dirty="0"/>
              <a:t>“First, we pass it through three Conv1D blocks. These consist of convolution, batch normalization, </a:t>
            </a:r>
            <a:r>
              <a:rPr lang="en-US" dirty="0" err="1"/>
              <a:t>ReLU</a:t>
            </a:r>
            <a:r>
              <a:rPr lang="en-US" dirty="0"/>
              <a:t> activation, max pooling and dropout.”</a:t>
            </a:r>
          </a:p>
          <a:p>
            <a:endParaRPr lang="en-US" dirty="0"/>
          </a:p>
          <a:p>
            <a:r>
              <a:rPr lang="en-US" dirty="0"/>
              <a:t>Then explain the two branches.</a:t>
            </a:r>
          </a:p>
          <a:p>
            <a:r>
              <a:rPr lang="en-US" b="1" dirty="0"/>
              <a:t>Head A — Time-Distributed</a:t>
            </a:r>
          </a:p>
          <a:p>
            <a:r>
              <a:rPr lang="en-US" dirty="0"/>
              <a:t>“The first head is the Time-Distributed head. It applies a 1x1 convolution at each time step to produce eight genre probabilities.”</a:t>
            </a:r>
          </a:p>
          <a:p>
            <a:r>
              <a:rPr lang="en-US" dirty="0"/>
              <a:t>Then:</a:t>
            </a:r>
          </a:p>
          <a:p>
            <a:r>
              <a:rPr lang="en-US" dirty="0"/>
              <a:t>“We have predictions at every timestep, and we average those probabilities across time to obtain the final song-level prediction.”</a:t>
            </a:r>
          </a:p>
          <a:p>
            <a:r>
              <a:rPr lang="en-US" b="1" dirty="0"/>
              <a:t>Head B — GRU</a:t>
            </a:r>
          </a:p>
          <a:p>
            <a:r>
              <a:rPr lang="en-US" dirty="0"/>
              <a:t>Point to the GRU:</a:t>
            </a:r>
          </a:p>
          <a:p>
            <a:r>
              <a:rPr lang="en-US" dirty="0"/>
              <a:t>“The second head adds a unidirectional GRU with hidden size 128. This gives us the CRNN architecture — convolution extracts local audio features and the GRU models their temporal relationships.”</a:t>
            </a:r>
          </a:p>
          <a:p>
            <a:r>
              <a:rPr lang="en-US" b="1" dirty="0"/>
              <a:t>The key sentence</a:t>
            </a:r>
          </a:p>
          <a:p>
            <a:r>
              <a:rPr lang="en-US" dirty="0"/>
              <a:t>Memorize this:</a:t>
            </a:r>
          </a:p>
          <a:p>
            <a:r>
              <a:rPr lang="en-US" b="1" dirty="0"/>
              <a:t>“CNN learns local acoustic patterns, while the GRU learns how those patterns evolve over time.”</a:t>
            </a:r>
            <a:endParaRPr lang="en-US" dirty="0"/>
          </a:p>
          <a:p>
            <a:r>
              <a:rPr lang="en-US" dirty="0"/>
              <a:t>That's probably the cleanest way to explain your architecture.</a:t>
            </a:r>
          </a:p>
          <a:p>
            <a:r>
              <a:rPr lang="en-US" b="1" dirty="0"/>
              <a:t>If professor asks: "Why two heads?"</a:t>
            </a:r>
          </a:p>
          <a:p>
            <a:r>
              <a:rPr lang="en-US" dirty="0"/>
              <a:t>“The Time-Distributed head gives us a non-recurrent baseline, while the GRU head lets us measure whether explicitly modeling temporal dependencies improves performance.”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“For training, we used CUDA acceleration with a batch size of 32 and trained for 20 epochs”</a:t>
            </a:r>
          </a:p>
          <a:p>
            <a:r>
              <a:rPr lang="en-US" dirty="0"/>
              <a:t>“We used Adam with an initial learning rate of 0.001 and weight decay of 0.0001. We also used </a:t>
            </a:r>
            <a:r>
              <a:rPr lang="en-US" dirty="0" err="1"/>
              <a:t>ReduceLROnPlateau</a:t>
            </a:r>
            <a:r>
              <a:rPr lang="en-US" dirty="0"/>
              <a:t> to reduce the learning rate when validation performance stopped improving.”</a:t>
            </a:r>
          </a:p>
          <a:p>
            <a:r>
              <a:rPr lang="en-US" dirty="0"/>
              <a:t>“During training, we randomly cropped 640 frames from the spectrogram, corresponding to approximately 14.9 seconds. During testing, we used the complete 1292-frame representation.”</a:t>
            </a:r>
          </a:p>
          <a:p>
            <a:r>
              <a:rPr lang="en-US" b="1" dirty="0"/>
              <a:t>Why crop during training?</a:t>
            </a:r>
          </a:p>
          <a:p>
            <a:r>
              <a:rPr lang="en-US" dirty="0"/>
              <a:t>If asked:</a:t>
            </a:r>
          </a:p>
          <a:p>
            <a:r>
              <a:rPr lang="en-US" dirty="0"/>
              <a:t>“The random crop acts as data augmentation. Different portions of the same track are seen during different training iterations, which can improve robustness.”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“Now coming to our results, the best-performing model was our GRU-based CRNN.”</a:t>
            </a:r>
          </a:p>
          <a:p>
            <a:r>
              <a:rPr lang="en-US" dirty="0"/>
              <a:t>“The strongest classical baseline was Logistic Regression at 56.12%.”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Hip-Hop is the strongest class by F1 and Pop the weakest. The confusion matrix at results/gru/confusion_matrix.png shows which genres Pop is mistaken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actual interactive application is built using </a:t>
            </a:r>
            <a:r>
              <a:rPr lang="en-US" dirty="0" err="1"/>
              <a:t>Gradio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Time-Distributed ablation achieved 56.25%, which gives us evidence that adding temporal modeling with the GRU was useful.”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SongNet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BFD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Time-Resolved Music Genre Classification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UE24CS352A Machine Learning Mini-Project  |  github.com/nidhi832/SONGNET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classify 30-second clips into 8 genres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pipelines summarise a track as one feature vector, so temporal evolution is lost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SongNet: Conv1D + recurrent (CRNN) model on log-Mel spectrograms (Zhang, Zhang, Chen, Stanford CS229)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Implemented: a genre probability at every time step, shown as curves and a heatmap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claimed: streaming latency was not benchmarked; per-step outputs are a foundation for real-time tracking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FMA-Small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4328" cy="11887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5156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244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in FMA-Small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64408" y="1005840"/>
            <a:ext cx="2624328" cy="11887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64408" y="105156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7,997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1691640"/>
            <a:ext cx="244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(3 corrupt MP3s skipped)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71616" y="1005840"/>
            <a:ext cx="2624328" cy="11887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1616" y="105156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x 1292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163056" y="1691640"/>
            <a:ext cx="244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 input per track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5695796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23160"/>
            <a:ext cx="569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5,597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52996" y="2423160"/>
            <a:ext cx="1628243" cy="457200"/>
          </a:xfrm>
          <a:prstGeom prst="rect">
            <a:avLst/>
          </a:prstGeom>
          <a:solidFill>
            <a:srgbClr val="2E86C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52996" y="2423160"/>
            <a:ext cx="1628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1,600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81239" y="2423160"/>
            <a:ext cx="814121" cy="457200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81239" y="2423160"/>
            <a:ext cx="8141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800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06324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genres: Electronic, Experimental, Folk, Hip-Hop, Instrumental, International, Pop, Rock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22.05 kHz audio, FFT 2048, hop 512, 128 Mel bins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70/20/10 split; test = 100 tracks per genre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statistics from the training split only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One Backbone, Two Heads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6002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DE6F0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1600200"/>
            <a:ext cx="11887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x 1292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E86C1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73736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BFD7EA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1600200"/>
            <a:ext cx="155448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x Conv1D block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BN, ReLU, MaxPool, Dropout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E86C1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66160" y="16002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DE6F0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600200"/>
            <a:ext cx="11887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x 161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028700"/>
            <a:ext cx="21031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Time-Distributed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1x1 Conv1d per step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22860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1F3A5F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GRU / CRNN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(hidden 128) + Linear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V="1">
            <a:off x="4754880" y="1353311"/>
            <a:ext cx="365760" cy="704089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057400"/>
            <a:ext cx="365760" cy="640080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0" y="16002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DE6F0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0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softmax,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time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song genre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23760" y="1417320"/>
            <a:ext cx="365760" cy="640080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223760" y="2080260"/>
            <a:ext cx="365760" cy="617220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33756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along time only: the 128 Mel bins are channels; channels 128→128→256→256, kernel 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has no recurrence. B adds a unidirectional GRU: CRNN = Convolutional Recurrent Neural Network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emit 8 probabilities at each of 161 steps; the mean over steps is the song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Recipe (measured run)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src.train --data_dir data/processed --out_dir runs/songnet_full --epochs 20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Time-Distributed head, 20 epochs, batch 32, dropout 0.3, CUDA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lr 1e-3, weight decay 1e-4; ReduceLROnPlateau (x0.5, patience 3)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NLL on log of mean-pooled step probabilities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Augmentation: random 640-frame crop (about 14.9 s); test on full 1292 frames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saved when validation loss or accuracy improves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 accuracy 55.75%, lowest val loss 1.2900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variant trained with the same script (--head gru)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Test Accuracy (800 tracks)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914400"/>
          <a:ext cx="5760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1005840"/>
            <a:ext cx="2560320" cy="18745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051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59.75%</a:t>
            </a:r>
            <a:endParaRPr lang="en-US" sz="42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/ CRNN test accuracy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0.5897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3017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GRU/CRNN improves test accuracy by 3.63 percentage points over Logistic Regression.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526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run, one split. Random guess = 12.5%. Baselines fit on train+val.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Per-Genre Performance (GRU / CRNN)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362102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Hip-Hop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852160" y="1051560"/>
            <a:ext cx="2926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Strongest: Hip-Hop (F1 0.78)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Weakest: Pop (F1 0.34, recall 0.28)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and Instrumental also below 0.5 F1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Folk: high recall (0.79), lower precision (0.57)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test tracks per genre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src/preprocess.py: spectrograms, split, norm stats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src/baselines.py: 5 classical models on FMA features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src/model.py: SongNet (TD and GRU heads)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src/train.py, src/evaluate.py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tests/smoke_test.py: synthetic end-to-end check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143000"/>
            <a:ext cx="3657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plan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python app.py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Uploading a clip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Showing per-timestep genre curves, temporal heatmap and song-level probabilities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Comparing TD and GRU heads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GRU/CRNN: 59.75% accuracy, macro F1 0.5897 on 800 test tracks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classical baseline, Logistic Regression: 56.12%, macro F1 0.5605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Time-Distributed ablation: 56.25%, macro F1 0.5561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and Experimental remain hardest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1191</Words>
  <Application>Microsoft Office PowerPoint</Application>
  <PresentationFormat>On-screen Show (16:9)</PresentationFormat>
  <Paragraphs>166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Vasu Tripathi</cp:lastModifiedBy>
  <cp:revision>9</cp:revision>
  <dcterms:created xsi:type="dcterms:W3CDTF">2026-10-11T09:51:08Z</dcterms:created>
  <dcterms:modified xsi:type="dcterms:W3CDTF">2026-10-11T10:43:54Z</dcterms:modified>
</cp:coreProperties>
</file>